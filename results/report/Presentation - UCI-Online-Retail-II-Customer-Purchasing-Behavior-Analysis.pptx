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8" r:id="rId2"/>
    <p:sldId id="285" r:id="rId3"/>
    <p:sldId id="284" r:id="rId4"/>
    <p:sldId id="287" r:id="rId5"/>
    <p:sldId id="295" r:id="rId6"/>
    <p:sldId id="290" r:id="rId7"/>
  </p:sldIdLst>
  <p:sldSz cx="12192000" cy="6858000"/>
  <p:notesSz cx="6858000" cy="9144000"/>
  <p:defaultTextStyle>
    <a:defPPr>
      <a:defRPr lang="en-U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59" d="100"/>
          <a:sy n="59" d="100"/>
        </p:scale>
        <p:origin x="856" y="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4938F-ADEC-3EB9-B448-21B23CCB21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B23C97-7E74-DF1F-6469-36A7636E5D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24D36-3C41-6DD9-1AFE-DDFDBD2A6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38531-230B-4A6D-9811-B1635E26052B}" type="datetimeFigureOut">
              <a:rPr lang="en-UG" smtClean="0"/>
              <a:t>10/12/2025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C1C19-0551-5553-C065-0D496F6D1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CA721-080E-826A-9282-731566701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70347-BCDC-4BC3-8D99-144BF16FF089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685905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CDCF6-7AB5-77CE-9DB6-0424E4C4D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7DB5F-FD89-C688-04C6-43CA71D8A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43F96F-8C71-A353-BC9F-415E7DA44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38531-230B-4A6D-9811-B1635E26052B}" type="datetimeFigureOut">
              <a:rPr lang="en-UG" smtClean="0"/>
              <a:t>10/12/2025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28E08-E2D4-7A40-41A1-2524B9418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D0A0D1-D304-732C-3957-CC7770B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70347-BCDC-4BC3-8D99-144BF16FF089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848492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B6F85-B011-7647-AE3C-BE564BFD3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00C16E-B992-860F-60DC-B4994F999D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756E51-2187-78D1-76E1-F1AB6C6EE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38531-230B-4A6D-9811-B1635E26052B}" type="datetimeFigureOut">
              <a:rPr lang="en-UG" smtClean="0"/>
              <a:t>10/12/2025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4AB18-C6F7-D910-BE3C-9CA82A422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1DD496-E1ED-68A9-BF11-3064846F2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70347-BCDC-4BC3-8D99-144BF16FF089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63797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585C0-A4E1-5D74-A434-21E1A06EB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C6476-74F0-6B55-704F-0AA2F558E9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E76ECC-A22B-0889-6D41-213AB64513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E9A6EA-2B97-6236-FBA4-E7BA6E793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38531-230B-4A6D-9811-B1635E26052B}" type="datetimeFigureOut">
              <a:rPr lang="en-UG" smtClean="0"/>
              <a:t>10/12/2025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C973E8-39C0-0D43-A539-3DD152D14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099231-8B86-DD8E-90BE-E6063C871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70347-BCDC-4BC3-8D99-144BF16FF089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867176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D3B59-B81D-8865-2038-171A17735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D1B11B-B807-AC1D-1447-A2535E322A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1C462C-049D-96F1-8D17-72CC7F7471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17B8B8-0F3E-08CA-05F0-80E7046347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6C621A-A709-B6FB-7A10-B30B3FA29C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C5515B-3343-61FC-9D99-A58557E7B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38531-230B-4A6D-9811-B1635E26052B}" type="datetimeFigureOut">
              <a:rPr lang="en-UG" smtClean="0"/>
              <a:t>10/12/2025</a:t>
            </a:fld>
            <a:endParaRPr lang="en-U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2FAA3A-6564-4FF6-7AE6-01405052A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8FFB8A-4343-90F9-D95F-7EBB9C986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70347-BCDC-4BC3-8D99-144BF16FF089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366103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A4CEB-D15E-37F2-C1E5-D1E37C14E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52F661-11A7-D54B-EFBF-50BE61EF6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38531-230B-4A6D-9811-B1635E26052B}" type="datetimeFigureOut">
              <a:rPr lang="en-UG" smtClean="0"/>
              <a:t>10/12/2025</a:t>
            </a:fld>
            <a:endParaRPr lang="en-U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0DC7DF-CF66-7F7A-BAFF-14E20D2E9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56E850-1696-32E5-9F5C-C324F7EB1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70347-BCDC-4BC3-8D99-144BF16FF089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125290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989E15-8C64-E1C9-5403-7E249CA8A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38531-230B-4A6D-9811-B1635E26052B}" type="datetimeFigureOut">
              <a:rPr lang="en-UG" smtClean="0"/>
              <a:t>10/12/2025</a:t>
            </a:fld>
            <a:endParaRPr lang="en-U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7A21C9-6C94-E3C2-942C-47EE87065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E84F0E-D56D-BA83-B1BD-74BC7AA03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70347-BCDC-4BC3-8D99-144BF16FF089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331363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6C2D9-FCCB-BA27-3B44-8845D9D12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3BC8D-184E-AA00-5C8C-4C883BA0E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761F3B-7FB4-54FC-7362-56D61CF9D5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DA20A4-31C2-9BD0-3B22-7DB97A6CA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38531-230B-4A6D-9811-B1635E26052B}" type="datetimeFigureOut">
              <a:rPr lang="en-UG" smtClean="0"/>
              <a:t>10/12/2025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738204-98F2-AF71-5921-F9A4CF3AF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C425B0-3623-8218-0A0B-264B0C1A6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70347-BCDC-4BC3-8D99-144BF16FF089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579597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81723-A29E-F050-0A61-153A784EB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B034F4-2E52-D3CE-90B8-8522CC583E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1460E3-6C12-0A2E-FA57-098A33C580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53B163-5564-DC8C-61C2-9624EB9C3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38531-230B-4A6D-9811-B1635E26052B}" type="datetimeFigureOut">
              <a:rPr lang="en-UG" smtClean="0"/>
              <a:t>10/12/2025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944B8D-3980-FC64-C7A5-AE6BD4E47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B2FADA-F53F-D05D-5EEC-D32FAB965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70347-BCDC-4BC3-8D99-144BF16FF089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535261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B065B-BF59-4059-6B99-A63CC7F60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A79E77-A1A0-19A7-858C-B1B7C1172F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A03110-6D53-0EC5-3B86-EBA1BA9FD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38531-230B-4A6D-9811-B1635E26052B}" type="datetimeFigureOut">
              <a:rPr lang="en-UG" smtClean="0"/>
              <a:t>10/12/2025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5FEA3-14A7-40DB-B3D1-042715DF5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1DEB7-5194-3244-FCBC-A4A459416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70347-BCDC-4BC3-8D99-144BF16FF089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796181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B46EF7-4901-4500-D69F-D6370CAFA4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7C6AD7-9841-2583-DFB5-5706445483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3A0AF-7A18-448C-F5F0-73674F032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38531-230B-4A6D-9811-B1635E26052B}" type="datetimeFigureOut">
              <a:rPr lang="en-UG" smtClean="0"/>
              <a:t>10/12/2025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55FDB4-5C0E-C1B3-DDD8-E5886297A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06329-07D2-AF81-8B78-6E0012B14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70347-BCDC-4BC3-8D99-144BF16FF089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325470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D01B61-BC43-FA50-3722-2A41FDC31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06AE6-B204-5014-3ADF-E6002AE5DE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5F160-9A44-15B2-159C-4CE210D626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038531-230B-4A6D-9811-B1635E26052B}" type="datetimeFigureOut">
              <a:rPr lang="en-UG" smtClean="0"/>
              <a:t>10/12/2025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9002AD-F30A-E934-497A-0902498C0D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A00B7-03B2-6F98-0472-F7FB13B30C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270347-BCDC-4BC3-8D99-144BF16FF089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568709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mashlyn/online-retail-ii-uci/data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ainedembe-denis-2b329615a/" TargetMode="External"/><Relationship Id="rId2" Type="http://schemas.openxmlformats.org/officeDocument/2006/relationships/hyperlink" Target="mailto:ainedembe.denis@stud.umu.ac.ug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3C700-0C7B-8A4F-1C5B-298DA87586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784" y="2242239"/>
            <a:ext cx="9856430" cy="2186694"/>
          </a:xfrm>
        </p:spPr>
        <p:txBody>
          <a:bodyPr>
            <a:normAutofit/>
          </a:bodyPr>
          <a:lstStyle/>
          <a:p>
            <a:r>
              <a:rPr lang="en-US" b="1" dirty="0"/>
              <a:t>UCI Online Retail II </a:t>
            </a:r>
            <a:br>
              <a:rPr lang="en-US" dirty="0"/>
            </a:br>
            <a:r>
              <a:rPr lang="en-US" sz="3300" dirty="0"/>
              <a:t>Customer Purchase Behavior Analysis</a:t>
            </a:r>
            <a:br>
              <a:rPr lang="en-US" b="1" dirty="0"/>
            </a:br>
            <a:endParaRPr lang="en-UG" sz="3300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FE9A0F3-663F-D3CB-EF51-0E18C3071B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644158"/>
              </p:ext>
            </p:extLst>
          </p:nvPr>
        </p:nvGraphicFramePr>
        <p:xfrm>
          <a:off x="2163149" y="4282339"/>
          <a:ext cx="8061645" cy="1364154"/>
        </p:xfrm>
        <a:graphic>
          <a:graphicData uri="http://schemas.openxmlformats.org/drawingml/2006/table">
            <a:tbl>
              <a:tblPr/>
              <a:tblGrid>
                <a:gridCol w="2810059">
                  <a:extLst>
                    <a:ext uri="{9D8B030D-6E8A-4147-A177-3AD203B41FA5}">
                      <a16:colId xmlns:a16="http://schemas.microsoft.com/office/drawing/2014/main" val="4234424127"/>
                    </a:ext>
                  </a:extLst>
                </a:gridCol>
                <a:gridCol w="5251586">
                  <a:extLst>
                    <a:ext uri="{9D8B030D-6E8A-4147-A177-3AD203B41FA5}">
                      <a16:colId xmlns:a16="http://schemas.microsoft.com/office/drawing/2014/main" val="3473141048"/>
                    </a:ext>
                  </a:extLst>
                </a:gridCol>
              </a:tblGrid>
              <a:tr h="3570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STUDENTS</a:t>
                      </a:r>
                      <a:endParaRPr lang="en-UG" sz="2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12886" marR="112886" marT="56443" marB="5644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AINEDEMBE DENIS       2024-M132-23999</a:t>
                      </a:r>
                    </a:p>
                    <a:p>
                      <a:pPr algn="l" fontAlgn="ctr">
                        <a:buNone/>
                      </a:pPr>
                      <a:endParaRPr lang="en-UG" sz="2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1517" marR="11517" marT="115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623798"/>
                  </a:ext>
                </a:extLst>
              </a:tr>
              <a:tr h="3570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LECTURER </a:t>
                      </a:r>
                      <a:endParaRPr lang="en-UG" sz="2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1517" marR="11517" marT="115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Dr. </a:t>
                      </a:r>
                      <a:r>
                        <a:rPr lang="en-CA" sz="2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Sibitenda</a:t>
                      </a:r>
                      <a:r>
                        <a:rPr lang="en-CA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Harriet</a:t>
                      </a:r>
                    </a:p>
                    <a:p>
                      <a:pPr algn="l" fontAlgn="ctr">
                        <a:buNone/>
                      </a:pPr>
                      <a:endParaRPr lang="en-UG" sz="2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1517" marR="11517" marT="115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8814536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134FA84F-DBD1-06EC-740A-A3FE53A1DF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1290" y="280784"/>
            <a:ext cx="2061740" cy="2186693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6F32AB4-D3AD-B4CF-2ED4-B849268CD692}"/>
              </a:ext>
            </a:extLst>
          </p:cNvPr>
          <p:cNvSpPr txBox="1"/>
          <p:nvPr/>
        </p:nvSpPr>
        <p:spPr>
          <a:xfrm>
            <a:off x="882570" y="958731"/>
            <a:ext cx="60940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b="1" dirty="0"/>
              <a:t>MASTER OF SCIENCE OF INFORMATION SYSTEMS</a:t>
            </a:r>
          </a:p>
          <a:p>
            <a:r>
              <a:rPr lang="en-UG" dirty="0"/>
              <a:t>INTELLIGENT SYSTEMS</a:t>
            </a:r>
          </a:p>
        </p:txBody>
      </p:sp>
    </p:spTree>
    <p:extLst>
      <p:ext uri="{BB962C8B-B14F-4D97-AF65-F5344CB8AC3E}">
        <p14:creationId xmlns:p14="http://schemas.microsoft.com/office/powerpoint/2010/main" val="1787801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084" y="321906"/>
            <a:ext cx="10700657" cy="454704"/>
          </a:xfrm>
        </p:spPr>
        <p:txBody>
          <a:bodyPr>
            <a:normAutofit fontScale="90000"/>
          </a:bodyPr>
          <a:lstStyle/>
          <a:p>
            <a:r>
              <a:rPr b="1" dirty="0">
                <a:solidFill>
                  <a:srgbClr val="0070C0"/>
                </a:solidFill>
              </a:rPr>
              <a:t>About the </a:t>
            </a:r>
            <a:r>
              <a:rPr lang="en-US" b="1" dirty="0">
                <a:solidFill>
                  <a:srgbClr val="0070C0"/>
                </a:solidFill>
              </a:rPr>
              <a:t>Online Retail II UCI Dataset</a:t>
            </a:r>
            <a:endParaRPr b="1" dirty="0">
              <a:solidFill>
                <a:srgbClr val="0070C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BF4587-D6A3-77D9-2685-CA5E6B6EAA2D}"/>
              </a:ext>
            </a:extLst>
          </p:cNvPr>
          <p:cNvSpPr txBox="1"/>
          <p:nvPr/>
        </p:nvSpPr>
        <p:spPr>
          <a:xfrm>
            <a:off x="468083" y="948690"/>
            <a:ext cx="11049003" cy="447814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1900" dirty="0"/>
              <a:t>This Online Retail II data set contains all the transactions occurring for a UK-based and registered, non-store online retail between 01/12/2009 and 09/12/2011.The company mainly sells unique all-occasion gift-ware. Many customers of the company are wholesalers.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1900" dirty="0"/>
          </a:p>
          <a:p>
            <a:pPr algn="just"/>
            <a:r>
              <a:rPr lang="en-US" sz="1900" b="1" dirty="0"/>
              <a:t>Attribute Information: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900" dirty="0" err="1"/>
              <a:t>InvoiceNo</a:t>
            </a:r>
            <a:r>
              <a:rPr lang="en-US" sz="1900" dirty="0"/>
              <a:t>: Invoice number. Nominal. A 6-digit integral number uniquely assigned to each transaction. If this code starts with the letter 'c', it indicates a cancellation.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900" dirty="0" err="1"/>
              <a:t>StockCode</a:t>
            </a:r>
            <a:r>
              <a:rPr lang="en-US" sz="1900" dirty="0"/>
              <a:t>: Product (item) code. Nominal. A 5-digit integral number uniquely assigned to each distinct product.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900" dirty="0"/>
              <a:t>Description: Product (item) name. Nominal.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900" dirty="0"/>
              <a:t>Quantity: The quantities of each product (item) per transaction. Numeric.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900" dirty="0" err="1"/>
              <a:t>InvoiceDate</a:t>
            </a:r>
            <a:r>
              <a:rPr lang="en-US" sz="1900" dirty="0"/>
              <a:t>: </a:t>
            </a:r>
            <a:r>
              <a:rPr lang="en-US" sz="1900" dirty="0" err="1"/>
              <a:t>Invice</a:t>
            </a:r>
            <a:r>
              <a:rPr lang="en-US" sz="1900" dirty="0"/>
              <a:t> date and time. Numeric. The day and time when a transaction was generated.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900" dirty="0" err="1"/>
              <a:t>UnitPrice</a:t>
            </a:r>
            <a:r>
              <a:rPr lang="en-US" sz="1900" dirty="0"/>
              <a:t>: Unit price. Numeric. Product price per unit in sterling (Â£).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900" dirty="0" err="1"/>
              <a:t>CustomerID</a:t>
            </a:r>
            <a:r>
              <a:rPr lang="en-US" sz="1900" dirty="0"/>
              <a:t>: Customer number. Nominal. A 5-digit integral number uniquely assigned to each customer.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900" dirty="0"/>
              <a:t>Country: Country name. Nominal. The name of the country where a customer resides.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2F8574-0A8E-7A5C-04B4-CD24543C2831}"/>
              </a:ext>
            </a:extLst>
          </p:cNvPr>
          <p:cNvSpPr txBox="1"/>
          <p:nvPr/>
        </p:nvSpPr>
        <p:spPr>
          <a:xfrm>
            <a:off x="468083" y="5889763"/>
            <a:ext cx="11049003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1800" b="1" dirty="0"/>
              <a:t>Source (Kaggle): </a:t>
            </a:r>
          </a:p>
          <a:p>
            <a:pPr algn="just"/>
            <a:r>
              <a:rPr lang="en-US" dirty="0">
                <a:hlinkClick r:id="rId2"/>
              </a:rPr>
              <a:t>https://www.kaggle.com/datasets/mashlyn/online-retail-ii-uci/data</a:t>
            </a:r>
            <a:r>
              <a:rPr lang="en-US" dirty="0"/>
              <a:t> 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6686" y="339950"/>
            <a:ext cx="8229600" cy="443821"/>
          </a:xfrm>
        </p:spPr>
        <p:txBody>
          <a:bodyPr>
            <a:normAutofit fontScale="90000"/>
          </a:bodyPr>
          <a:lstStyle/>
          <a:p>
            <a:pPr algn="l"/>
            <a:r>
              <a:rPr b="1" dirty="0">
                <a:solidFill>
                  <a:srgbClr val="0070C0"/>
                </a:solidFill>
              </a:rP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023256"/>
            <a:ext cx="10700657" cy="5388429"/>
          </a:xfrm>
          <a:ln>
            <a:solidFill>
              <a:srgbClr val="0070C0"/>
            </a:solidFill>
          </a:ln>
        </p:spPr>
        <p:txBody>
          <a:bodyPr>
            <a:normAutofit/>
          </a:bodyPr>
          <a:lstStyle/>
          <a:p>
            <a:pPr marL="0" indent="0" algn="just"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FB74A-A2DB-AD9B-0171-B91069513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65DE3-AB2B-8F0E-4FCA-3938D4E8B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629" y="385270"/>
            <a:ext cx="8229600" cy="518244"/>
          </a:xfrm>
        </p:spPr>
        <p:txBody>
          <a:bodyPr>
            <a:normAutofit fontScale="90000"/>
          </a:bodyPr>
          <a:lstStyle/>
          <a:p>
            <a:pPr algn="l"/>
            <a:r>
              <a:rPr lang="en-US" sz="3500" b="1" dirty="0">
                <a:solidFill>
                  <a:srgbClr val="0070C0"/>
                </a:solidFill>
              </a:rPr>
              <a:t>Real-Life Applicability</a:t>
            </a:r>
            <a:endParaRPr sz="3500" b="1" dirty="0">
              <a:solidFill>
                <a:srgbClr val="0070C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C85DE3-4787-250C-0D65-5838F0E60F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629" y="1150710"/>
            <a:ext cx="11038114" cy="5184776"/>
          </a:xfrm>
          <a:ln>
            <a:solidFill>
              <a:srgbClr val="0070C0"/>
            </a:solidFill>
          </a:ln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UG" sz="2900" dirty="0"/>
          </a:p>
        </p:txBody>
      </p:sp>
    </p:spTree>
    <p:extLst>
      <p:ext uri="{BB962C8B-B14F-4D97-AF65-F5344CB8AC3E}">
        <p14:creationId xmlns:p14="http://schemas.microsoft.com/office/powerpoint/2010/main" val="2541141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C5D85-6585-073E-AC81-064B90826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3E3B3-3F88-A073-C77B-23F1AB470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340" y="267148"/>
            <a:ext cx="10831286" cy="364220"/>
          </a:xfrm>
        </p:spPr>
        <p:txBody>
          <a:bodyPr>
            <a:normAutofit fontScale="90000"/>
          </a:bodyPr>
          <a:lstStyle/>
          <a:p>
            <a:endParaRPr lang="en-UG" sz="30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3057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99534-EA6C-22F0-782B-44CDE0232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B286D-E49A-8A2D-6C63-1500432F0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3336" y="1692169"/>
            <a:ext cx="2237773" cy="7286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THE END</a:t>
            </a:r>
            <a:endParaRPr lang="en-UG" b="1" dirty="0">
              <a:solidFill>
                <a:srgbClr val="0070C0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6D162BB-205F-9100-551B-18368E6740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9988448"/>
              </p:ext>
            </p:extLst>
          </p:nvPr>
        </p:nvGraphicFramePr>
        <p:xfrm>
          <a:off x="829519" y="2999172"/>
          <a:ext cx="10532962" cy="2475653"/>
        </p:xfrm>
        <a:graphic>
          <a:graphicData uri="http://schemas.openxmlformats.org/drawingml/2006/table">
            <a:tbl>
              <a:tblPr/>
              <a:tblGrid>
                <a:gridCol w="1620455">
                  <a:extLst>
                    <a:ext uri="{9D8B030D-6E8A-4147-A177-3AD203B41FA5}">
                      <a16:colId xmlns:a16="http://schemas.microsoft.com/office/drawing/2014/main" val="1810663039"/>
                    </a:ext>
                  </a:extLst>
                </a:gridCol>
                <a:gridCol w="8912507">
                  <a:extLst>
                    <a:ext uri="{9D8B030D-6E8A-4147-A177-3AD203B41FA5}">
                      <a16:colId xmlns:a16="http://schemas.microsoft.com/office/drawing/2014/main" val="3389121005"/>
                    </a:ext>
                  </a:extLst>
                </a:gridCol>
              </a:tblGrid>
              <a:tr h="920171"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STUDENT</a:t>
                      </a:r>
                      <a:endParaRPr lang="en-UG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13741" marR="113741" marT="56870" marB="568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AINEDEMBE DENIS</a:t>
                      </a:r>
                      <a:endParaRPr lang="en-UG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0247" marR="10247" marT="102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2581867"/>
                  </a:ext>
                </a:extLst>
              </a:tr>
              <a:tr h="920171">
                <a:tc vMerge="1">
                  <a:txBody>
                    <a:bodyPr/>
                    <a:lstStyle/>
                    <a:p>
                      <a:endParaRPr lang="en-U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dembedenis@gmail.com, </a:t>
                      </a:r>
                      <a:r>
                        <a:rPr lang="en-CA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hlinkClick r:id="rId2"/>
                        </a:rPr>
                        <a:t>ainedembe.denis@stud.umu.ac.ug</a:t>
                      </a:r>
                      <a:endParaRPr lang="en-CA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en-US" sz="1800" b="0" i="0" u="sng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https://www.linkedin.com/in/ainedembe-denis-2b329615a/</a:t>
                      </a:r>
                      <a:endParaRPr lang="en-UG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0247" marR="10247" marT="102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7176790"/>
                  </a:ext>
                </a:extLst>
              </a:tr>
              <a:tr h="63531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LECTURER </a:t>
                      </a:r>
                      <a:endParaRPr lang="en-UG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0247" marR="10247" marT="102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Dr. </a:t>
                      </a:r>
                      <a:r>
                        <a:rPr lang="en-CA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Sibitenda</a:t>
                      </a:r>
                      <a:r>
                        <a:rPr lang="en-CA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Harriet</a:t>
                      </a:r>
                      <a:br>
                        <a:rPr lang="en-CA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CA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+256 777 056581 hsibitenda@umu.ac.ug</a:t>
                      </a:r>
                      <a:endParaRPr lang="en-UG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0247" marR="10247" marT="102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95549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6561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704</TotalTime>
  <Words>298</Words>
  <Application>Microsoft Office PowerPoint</Application>
  <PresentationFormat>Widescreen</PresentationFormat>
  <Paragraphs>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UCI Online Retail II  Customer Purchase Behavior Analysis </vt:lpstr>
      <vt:lpstr>About the Online Retail II UCI Dataset</vt:lpstr>
      <vt:lpstr>Project Objectives</vt:lpstr>
      <vt:lpstr>Real-Life Applicability</vt:lpstr>
      <vt:lpstr>PowerPoint Presentation</vt:lpstr>
      <vt:lpstr>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Ainedembe Denis</dc:creator>
  <cp:lastModifiedBy>Ainedembe Denis</cp:lastModifiedBy>
  <cp:revision>281</cp:revision>
  <dcterms:created xsi:type="dcterms:W3CDTF">2025-11-24T20:40:08Z</dcterms:created>
  <dcterms:modified xsi:type="dcterms:W3CDTF">2025-12-10T15:17:27Z</dcterms:modified>
</cp:coreProperties>
</file>